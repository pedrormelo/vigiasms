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66614" y="1784990"/>
            <a:ext cx="4210654" cy="685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Espaço Coluna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264933" y="2623048"/>
            <a:ext cx="4614017" cy="3201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Os subespaços fundamentais de uma matriz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728178" y="3171683"/>
            <a:ext cx="1687645" cy="1867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Apresentação CPNU •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9" y="1401739"/>
            <a:ext cx="7924942" cy="1205197"/>
          </a:xfrm>
          <a:prstGeom prst="rect">
            <a:avLst/>
          </a:prstGeom>
          <a:solidFill>
            <a:srgbClr val="1E293B"/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29" y="609529"/>
            <a:ext cx="8083441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Definição Formal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5969" y="1630268"/>
            <a:ext cx="7578573" cy="202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3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Seja \(A \in \mathbb{R}^{m \times n}\) com colunas \(\mathbf{a}_1, \mathbf{a}_2, \ldots, \mathbf{a}_n\):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875969" y="1909028"/>
            <a:ext cx="7429974" cy="4693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465"/>
              </a:lnSpc>
              <a:buNone/>
            </a:pPr>
            <a:r>
              <a:rPr lang="en-US" sz="1320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$$\text{Col}(A) = \left\{ \mathbf{b} \in \mathbb{R}^m : \mathbf{b} = A\mathbf{x} \text{ para algum } \mathbf{x} \in \mathbb{R}^n \right\}$$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914234" y="2759289"/>
            <a:ext cx="7620237" cy="10508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É o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conjunto de todas as combinações lineares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das colunas de \(A\)</a:t>
            </a:r>
            <a:endParaRPr lang="en-US" sz="1200" dirty="0"/>
          </a:p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É um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subespaço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de \(\mathbb{R}^m\) (chamado de subespaço fundamental)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Notação: \(\text{Col}(A)\) ou \(C(A)\)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9" y="609529"/>
            <a:ext cx="8083441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Interpretação Geométrica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234" y="1249387"/>
            <a:ext cx="7620237" cy="182752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 colunas de \(A\)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geram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um subespaço vetorial em \(\mathbb{R}^m\)</a:t>
            </a:r>
            <a:endParaRPr lang="en-US" sz="1200" dirty="0"/>
          </a:p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espaço coluna é o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span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das colunas: \(\text{Col}(A) = \text{span}\{\mathbf{a}_1, \ldots, \mathbf{a}_n\}\)</a:t>
            </a:r>
            <a:endParaRPr lang="en-US" sz="1200" dirty="0"/>
          </a:p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Sua dimensão depende do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número de colunas linearmente independentes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Geometricamente pode ser: uma reta, um plano, um hiperplano ou todo \(\mathbb{R}^m\)</a:t>
            </a:r>
            <a:endParaRPr lang="en-US" sz="1200" dirty="0"/>
          </a:p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Crucial: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 sistema \(A\mathbf{x} = \mathbf{b}\) tem solução \(\Leftrightarrow \mathbf{b} \in \text{Col}(A)\)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9" y="1249387"/>
            <a:ext cx="7924942" cy="507289"/>
          </a:xfrm>
          <a:prstGeom prst="rect">
            <a:avLst/>
          </a:prstGeom>
          <a:solidFill>
            <a:srgbClr val="1E293B"/>
          </a:solidFill>
        </p:spPr>
        <p:txBody>
          <a:bodyPr wrap="non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F1F5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Seja $$A = \begin{bmatrix} 1 &amp; 2 \\ 2 &amp; 4 \\ 3 &amp; 6 \end{bmatrix}$$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529" y="609529"/>
            <a:ext cx="8083441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Exemplo 1: Colunas Dependentes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234" y="1832852"/>
            <a:ext cx="7620237" cy="1713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 colunas: \(\mathbf{a}_1 = \begin{bmatrix}1\\2\\3\end{bmatrix}\) e \(\mathbf{a}_2 = 2\mathbf{a}_1\) (linearmente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dependentes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Logo: \(\text{Col}(A) = \text{span}\{\mathbf{a}_1\}\) = reta em \(\mathbb{R}^3\)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\(\dim(\text{Col}(A)) = 1 = \text{rank}(A)\)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sistema \(A\mathbf{x} = \mathbf{b}\) só tem solução se \(\mathbf{b}\) é múltiplo de \(\mathbf{a}_1\)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9" y="1249387"/>
            <a:ext cx="7924942" cy="507289"/>
          </a:xfrm>
          <a:prstGeom prst="rect">
            <a:avLst/>
          </a:prstGeom>
          <a:solidFill>
            <a:srgbClr val="1E293B"/>
          </a:solidFill>
        </p:spPr>
        <p:txBody>
          <a:bodyPr wrap="non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F1F5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$$B = \begin{bmatrix} 1 &amp; 0 \\ 0 &amp; 1 \\ 1 &amp; 1 \end{bmatrix}$$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529" y="609530"/>
            <a:ext cx="8083441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Exemplo 2: Colunas Independentes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234" y="1832851"/>
            <a:ext cx="7620237" cy="1713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 colunas \(\mathbf{b}_1 = \begin{bmatrix}1\\0\\1\end{bmatrix}\) e \(\mathbf{b}_2 = \begin{bmatrix}0\\1\\1\end{bmatrix}\) são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linearmente independentes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\(\text{Col}(B) = \text{span}\{\mathbf{b}_1, \mathbf{b}_2\}\) = plano em \(\mathbb{R}^3\)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\(\dim(\text{Col}(B)) = 2 = \text{rank}(B)\)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Qualquer \(\mathbf{b} \in \text{Col}(B)\) pode ser escrito como \(c_1\mathbf{b}_1 + c_2\mathbf{b}_2\)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9" y="1401740"/>
            <a:ext cx="7924942" cy="670304"/>
          </a:xfrm>
          <a:prstGeom prst="rect">
            <a:avLst/>
          </a:prstGeom>
          <a:solidFill>
            <a:srgbClr val="38BDF8">
              <a:alpha val="15000"/>
            </a:srgbClr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29" y="609530"/>
            <a:ext cx="8083441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Rank e Espaço Coluna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5969" y="1630268"/>
            <a:ext cx="7578573" cy="2132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2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\[\text{rank}(A) = \dim(\text{Col}(A)) = \text{número de colunas pivô}\]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234" y="2224397"/>
            <a:ext cx="7620237" cy="1439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rank revela a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dimensão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do espaço coluna</a:t>
            </a:r>
            <a:endParaRPr lang="en-US" sz="1200" dirty="0"/>
          </a:p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Colunas pivô formam uma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base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para o espaço coluna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Colunas não-pivô são combinações lineares das colunas pivô</a:t>
            </a:r>
            <a:endParaRPr lang="en-US" sz="1200" dirty="0"/>
          </a:p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 \(\text{rank}(A) = n\) (número de colunas): colunas são linearmente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independentes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9" y="1401740"/>
            <a:ext cx="7924942" cy="659642"/>
          </a:xfrm>
          <a:prstGeom prst="rect">
            <a:avLst/>
          </a:prstGeom>
          <a:solidFill>
            <a:srgbClr val="38BDF8">
              <a:alpha val="15000"/>
            </a:srgbClr>
          </a:solidFill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529" y="609530"/>
            <a:ext cx="8083441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Sistemas Lineares e Consistência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75969" y="1630268"/>
            <a:ext cx="7578573" cy="202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130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\[A\mathbf{x} = \mathbf{b} \text{ tem solução} \Leftrightarrow \mathbf{b} \in \text{Col}(A)\]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914234" y="2213735"/>
            <a:ext cx="7620237" cy="14391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 \(\mathbf{b}\) está no espaço coluna: sistema é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consistente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(solução existe)</a:t>
            </a:r>
            <a:endParaRPr lang="en-US" sz="1200" dirty="0"/>
          </a:p>
          <a:p>
            <a:pPr marL="0" indent="0">
              <a:lnSpc>
                <a:spcPts val="2880"/>
              </a:lnSpc>
              <a:buSzPct val="100000"/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 \(\mathbf{b}\) não está: sistema é </a:t>
            </a:r>
            <a:r>
              <a:rPr lang="en-US" sz="12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inconsistente</a:t>
            </a: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(sem solução)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Verificar se \(\mathbf{b} \in \text{Col}(A)\): resolver \([A|\mathbf{b}]\) por eliminação de Gauss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 linha nula com constante não-nula: \(\mathbf{b} \notin \text{Col}(A)\)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29" y="1588447"/>
            <a:ext cx="7924942" cy="507289"/>
          </a:xfrm>
          <a:prstGeom prst="rect">
            <a:avLst/>
          </a:prstGeom>
          <a:solidFill>
            <a:srgbClr val="1E293B"/>
          </a:solidFill>
        </p:spPr>
        <p:txBody>
          <a:bodyPr wrap="none" lIns="152400" tIns="152400" rIns="152400" bIns="152400" rtlCol="0" anchor="t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F1F5F9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$$A = \begin{bmatrix} 1 &amp; 2 \\ 1 &amp; 3 \\ 1 &amp; 5 \end{bmatrix}, \quad \mathbf{b} = \begin{bmatrix} 4 \\ 3 \\ 5 \end{bmatrix}$$</a:t>
            </a:r>
            <a:endParaRPr lang="en-US" sz="1140" dirty="0"/>
          </a:p>
        </p:txBody>
      </p:sp>
      <p:sp>
        <p:nvSpPr>
          <p:cNvPr id="3" name="Text 1"/>
          <p:cNvSpPr/>
          <p:nvPr/>
        </p:nvSpPr>
        <p:spPr>
          <a:xfrm>
            <a:off x="609529" y="609530"/>
            <a:ext cx="8083441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Aplicação: Regressão Linear em ML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529" y="1173210"/>
            <a:ext cx="8083441" cy="1867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196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Contexto:</a:t>
            </a:r>
            <a:r>
              <a:rPr lang="en-US" sz="105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Sistema de recomendação para prever ratings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234" y="2171914"/>
            <a:ext cx="7620237" cy="11657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Buscamos pesos \(\mathbf{x} = [w_1, w_2]^\top\) tal que \(A\mathbf{x} \approx \mathbf{b}\)</a:t>
            </a:r>
            <a:endParaRPr lang="en-US" sz="9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 dados têm ruído: \(\mathbf{b} \notin \text{Col}(A)\) (sistema inconsistente)</a:t>
            </a:r>
            <a:endParaRPr lang="en-US" sz="900" dirty="0"/>
          </a:p>
          <a:p>
            <a:pPr marL="0" indent="0">
              <a:lnSpc>
                <a:spcPts val="2160"/>
              </a:lnSpc>
              <a:buSzPct val="100000"/>
              <a:buNone/>
            </a:pPr>
            <a:r>
              <a:rPr lang="en-US" sz="900" b="1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Solução:</a:t>
            </a: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Mínimos Quadrados encontra a projeção de \(\mathbf{b}\) em \(\text{Col}(A)\)</a:t>
            </a:r>
            <a:endParaRPr lang="en-US" sz="9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9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 Python: `numpy.linalg.lstsq()` resolve automaticamente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9919" y="1391078"/>
            <a:ext cx="1244043" cy="41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Síntese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259344" y="2030936"/>
            <a:ext cx="4717818" cy="260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5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 Espaço Coluna:</a:t>
            </a:r>
            <a:endParaRPr lang="en-US" sz="1140" dirty="0"/>
          </a:p>
        </p:txBody>
      </p:sp>
      <p:sp>
        <p:nvSpPr>
          <p:cNvPr id="4" name="Text 2"/>
          <p:cNvSpPr/>
          <p:nvPr/>
        </p:nvSpPr>
        <p:spPr>
          <a:xfrm>
            <a:off x="2564049" y="2367628"/>
            <a:ext cx="4320606" cy="13846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35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Define o conjunto de possíveis saídas de uma transformação linear</a:t>
            </a:r>
            <a:endParaRPr lang="en-US" sz="1140" dirty="0"/>
          </a:p>
          <a:p>
            <a:pPr marL="342900" indent="-342900" algn="l">
              <a:lnSpc>
                <a:spcPts val="2735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Sua dimensão é o rank da matriz</a:t>
            </a:r>
            <a:endParaRPr lang="en-US" sz="1140" dirty="0"/>
          </a:p>
          <a:p>
            <a:pPr marL="342900" indent="-342900" algn="l">
              <a:lnSpc>
                <a:spcPts val="2735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Determina a existência de soluções para sistemas lineares</a:t>
            </a:r>
            <a:endParaRPr lang="en-US" sz="1140" dirty="0"/>
          </a:p>
          <a:p>
            <a:pPr marL="342900" indent="-342900" algn="l">
              <a:lnSpc>
                <a:spcPts val="2735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 ML: define o que pode ser predito com as features disponíveis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3418</Words>
  <Application>WPS Presentation</Application>
  <PresentationFormat>On-screen Show (16:9)</PresentationFormat>
  <Paragraphs>80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Arial</vt:lpstr>
      <vt:lpstr>Arial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Perplexity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creator>Perplexity</dc:creator>
  <dc:subject>PptxGenJS Presentation</dc:subject>
  <cp:lastModifiedBy>gcesar</cp:lastModifiedBy>
  <cp:revision>2</cp:revision>
  <dcterms:created xsi:type="dcterms:W3CDTF">2025-11-26T11:33:00Z</dcterms:created>
  <dcterms:modified xsi:type="dcterms:W3CDTF">2025-11-26T17:22:20Z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D364F85870F5483680E6F91F0F06372B_12</vt:lpwstr>
  </property>
  <property fmtid="{D5CDD505-2E9C-101B-9397-08002B2CF9AE}" pid="3" name="KSOProductBuildVer">
    <vt:lpwstr>1046-12.2.0.23158</vt:lpwstr>
  </property>
</Properties>
</file>